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73" r:id="rId4"/>
    <p:sldId id="275" r:id="rId5"/>
    <p:sldId id="259" r:id="rId6"/>
    <p:sldId id="276" r:id="rId7"/>
    <p:sldId id="274" r:id="rId8"/>
    <p:sldId id="267" r:id="rId9"/>
    <p:sldId id="271" r:id="rId10"/>
    <p:sldId id="272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76AF3D-CC41-4190-BF90-7B4B55F516DC}" v="60" dt="2026-04-30T11:45:15.050"/>
    <p1510:client id="{2C25E9B1-F2E3-9B28-D2AF-07951EF724FB}" v="135" dt="2026-04-30T16:34:46.361"/>
    <p1510:client id="{55575728-34E5-4083-8A5A-C6A36F55148E}" v="36" dt="2026-04-30T11:28:17.259"/>
    <p1510:client id="{7BA1F9AC-03C0-3984-AAF6-2E1E7D7DEEC1}" v="1" dt="2026-04-29T23:59:45.185"/>
    <p1510:client id="{9506F30C-7366-A129-40E2-8302397B02DC}" v="37" dt="2026-04-30T00:39:07.817"/>
    <p1510:client id="{D4663421-0F89-62F7-2B2D-50522947B642}" v="2" dt="2026-04-30T00:49:01.394"/>
    <p1510:client id="{DAF22442-030A-4BE0-A5EC-AE188ECC29D3}" v="3050" dt="2026-04-30T11:21:46.038"/>
    <p1510:client id="{E4A70FEA-E314-236B-82FA-2AF5FB7F65CD}" v="244" dt="2026-04-30T16:00:56.357"/>
    <p1510:client id="{FFA49C2C-90FB-B297-D963-277DEB96231F}" v="8" dt="2026-04-30T16:37:02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71249-8BC4-4B19-BA43-25DA187F43ED}" type="datetimeFigureOut">
              <a:t>4/30/2026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1F108-3B0F-44A3-A52D-8DB2675DCDF9}" type="slidenum"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11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 everyone, we're presenting our </a:t>
            </a:r>
            <a:r>
              <a:rPr lang="en-US" err="1"/>
              <a:t>Gomoku</a:t>
            </a:r>
            <a:r>
              <a:rPr lang="en-US"/>
              <a:t> game-playing agent. Think of Tic-tac-toe — you need three in a row to win on a tiny 3 by 3 board. </a:t>
            </a:r>
            <a:endParaRPr lang="zh-CN" altLang="en-US">
              <a:ea typeface="等线" panose="02010600030101010101" pitchFamily="2" charset="-122"/>
            </a:endParaRPr>
          </a:p>
          <a:p>
            <a:endParaRPr lang="en-US"/>
          </a:p>
          <a:p>
            <a:r>
              <a:rPr lang="en-US" err="1"/>
              <a:t>Gomoku</a:t>
            </a:r>
            <a:r>
              <a:rPr lang="en-US"/>
              <a:t> is the same idea, but you need five in a row, on a 15 by 15 board. Way more moves, way more complexity. Our AI uses a search algorithm called Alpha-Beta Pruning to find the best move every turn.</a:t>
            </a:r>
            <a:endParaRPr lang="zh-CN">
              <a:ea typeface="等线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 how do we turn this into a CS problem? </a:t>
            </a:r>
            <a:endParaRPr lang="zh-CN" altLang="en-US">
              <a:ea typeface="等线" panose="02010600030101010101" pitchFamily="2" charset="-122"/>
            </a:endParaRPr>
          </a:p>
          <a:p>
            <a:r>
              <a:rPr lang="en-US"/>
              <a:t>The board is a grid. Each cell is empty, black, or white. Win, lose, or draw. </a:t>
            </a:r>
            <a:endParaRPr lang="zh-CN" altLang="en-US"/>
          </a:p>
          <a:p>
            <a:r>
              <a:rPr lang="en-US"/>
              <a:t>That's the whole outcome. The game ends when someone gets five in a row in any direction, or the board is full. Our agent looks at the board and picks the best move. </a:t>
            </a:r>
            <a:endParaRPr lang="zh-CN" altLang="en-US"/>
          </a:p>
          <a:p>
            <a:r>
              <a:rPr lang="en-US"/>
              <a:t>It uses Minimax, which means it assumes the opponent always plays perfectly and plans ahead accordingly.</a:t>
            </a:r>
            <a:endParaRPr lang="zh-CN" altLang="en-US">
              <a:ea typeface="等线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92F56-14B5-2C56-2B9A-104275F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D8719-6817-25ED-AD32-B0F218716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754FC-A711-C000-76D2-56663BFAC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等线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AB072-A8F1-C379-8A8A-04FBD9AFD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21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2E819-AC4A-AAD5-2842-540F7DA68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3CEB5-EE9C-5A65-FAB4-5923A701A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F4F71-9134-A862-5D90-DF9D73DDF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等线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05940-9E2E-A44D-F3BB-AA3BCE5A4C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952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等线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312F8-8A39-C5B1-6E48-9117CF07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7D543-E845-B7D3-8124-AD2A0B6F9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76DA4-A38E-7200-205C-9F287BDF4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等线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5EC93-0868-D48B-C219-B2B8D33176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73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等线"/>
              </a:rPr>
              <a:t>Our results are strong and consistent.
Over 100 games, the agent won every single game against a random player — a </a:t>
            </a:r>
            <a:r>
              <a:rPr lang="en-US" err="1">
                <a:ea typeface="等线"/>
              </a:rPr>
              <a:t>100% win</a:t>
            </a:r>
            <a:r>
              <a:rPr lang="en-US">
                <a:ea typeface="等线"/>
              </a:rPr>
              <a:t> rate.
Games ended quickly, with the agent winning in an average of just 12.5 moves. This shows the heuristic effectively guides the agent to winning positions fast.
Decision time at depth 2 is about 31 milliseconds per move — well within real-time performance requirements.
These numbers were generated by our performance metrics script, which we can run any time to verify results.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等线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F5784-7699-0E21-D2C4-FAEF556BD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13192-F603-1A03-3AFC-9BEE5279B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FA2EC-A646-654E-3D49-BD5633D0F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等线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CC10F-00C5-1433-FD0F-8B26DBC069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82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89008-2222-2BED-D4AC-5D0F3074A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9CFB1-20BD-052B-06F6-1B430702D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108CA-4917-EE24-36F8-8E9B7FD28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1DBC5-8EF6-25F6-C063-FF1FAE9F49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983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xwordpuzzle.blogspot.com/2023/08/japanese-board-game-also-called-five-in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hyperlink" Target="https://sortingsearching.com/2020/05/18/gomoku.html" TargetMode="External"/><Relationship Id="rId4" Type="http://schemas.openxmlformats.org/officeDocument/2006/relationships/hyperlink" Target="https://en.wikipedia.org/wiki/Alpha%E2%80%93beta_prun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8129"/>
            <a:ext cx="6339840" cy="2682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0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Gomoku</a:t>
            </a:r>
            <a:endParaRPr lang="en-US" sz="5067"/>
          </a:p>
          <a:p>
            <a:pPr marL="0" indent="0">
              <a:buNone/>
            </a:pPr>
            <a:r>
              <a:rPr lang="en-US" sz="50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Game-Playing Agent</a:t>
            </a:r>
            <a:endParaRPr lang="en-US" sz="5067"/>
          </a:p>
        </p:txBody>
      </p:sp>
      <p:sp>
        <p:nvSpPr>
          <p:cNvPr id="3" name="Text 1"/>
          <p:cNvSpPr/>
          <p:nvPr/>
        </p:nvSpPr>
        <p:spPr>
          <a:xfrm>
            <a:off x="609600" y="2738449"/>
            <a:ext cx="633984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>
                <a:solidFill>
                  <a:srgbClr val="F5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Minimax &amp; Alpha-Beta Pruning</a:t>
            </a:r>
            <a:endParaRPr lang="en-US" sz="2133"/>
          </a:p>
        </p:txBody>
      </p:sp>
      <p:sp>
        <p:nvSpPr>
          <p:cNvPr id="4" name="Text 2"/>
          <p:cNvSpPr/>
          <p:nvPr/>
        </p:nvSpPr>
        <p:spPr>
          <a:xfrm>
            <a:off x="609600" y="3530929"/>
            <a:ext cx="633984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67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Yaru Gao ·  </a:t>
            </a:r>
            <a:r>
              <a:rPr lang="en-US" sz="1467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Zeyuan Zhang · Md Borhan Uddin · Gregory Shanygin</a:t>
            </a:r>
            <a:endParaRPr lang="en-US" sz="1467"/>
          </a:p>
        </p:txBody>
      </p:sp>
      <p:sp>
        <p:nvSpPr>
          <p:cNvPr id="5" name="Shape 3"/>
          <p:cNvSpPr/>
          <p:nvPr/>
        </p:nvSpPr>
        <p:spPr>
          <a:xfrm>
            <a:off x="7802880" y="1341120"/>
            <a:ext cx="3779520" cy="1341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6" name="Text 4"/>
          <p:cNvSpPr/>
          <p:nvPr/>
        </p:nvSpPr>
        <p:spPr>
          <a:xfrm>
            <a:off x="7802880" y="1402080"/>
            <a:ext cx="377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× 15</a:t>
            </a:r>
            <a:endParaRPr lang="en-US" sz="2933"/>
          </a:p>
        </p:txBody>
      </p:sp>
      <p:sp>
        <p:nvSpPr>
          <p:cNvPr id="7" name="Text 5"/>
          <p:cNvSpPr/>
          <p:nvPr/>
        </p:nvSpPr>
        <p:spPr>
          <a:xfrm>
            <a:off x="7802880" y="2133600"/>
            <a:ext cx="377952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Size</a:t>
            </a:r>
            <a:endParaRPr lang="en-US" sz="1467"/>
          </a:p>
        </p:txBody>
      </p:sp>
      <p:sp>
        <p:nvSpPr>
          <p:cNvPr id="8" name="Shape 6"/>
          <p:cNvSpPr/>
          <p:nvPr/>
        </p:nvSpPr>
        <p:spPr>
          <a:xfrm>
            <a:off x="7802880" y="2987040"/>
            <a:ext cx="3779520" cy="1341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9" name="Text 7"/>
          <p:cNvSpPr/>
          <p:nvPr/>
        </p:nvSpPr>
        <p:spPr>
          <a:xfrm>
            <a:off x="7802880" y="3048000"/>
            <a:ext cx="377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in a row</a:t>
            </a:r>
            <a:endParaRPr lang="en-US" sz="2933"/>
          </a:p>
        </p:txBody>
      </p:sp>
      <p:sp>
        <p:nvSpPr>
          <p:cNvPr id="10" name="Text 8"/>
          <p:cNvSpPr/>
          <p:nvPr/>
        </p:nvSpPr>
        <p:spPr>
          <a:xfrm>
            <a:off x="7802880" y="3779520"/>
            <a:ext cx="377952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Condition</a:t>
            </a:r>
            <a:endParaRPr lang="en-US" sz="1467"/>
          </a:p>
        </p:txBody>
      </p:sp>
      <p:sp>
        <p:nvSpPr>
          <p:cNvPr id="11" name="Shape 9"/>
          <p:cNvSpPr/>
          <p:nvPr/>
        </p:nvSpPr>
        <p:spPr>
          <a:xfrm>
            <a:off x="7802880" y="4632960"/>
            <a:ext cx="3779520" cy="1341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12" name="Text 10"/>
          <p:cNvSpPr/>
          <p:nvPr/>
        </p:nvSpPr>
        <p:spPr>
          <a:xfrm>
            <a:off x="7802880" y="4693920"/>
            <a:ext cx="377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Alpha-Beta</a:t>
            </a:r>
            <a:endParaRPr lang="en-US" sz="2933"/>
          </a:p>
        </p:txBody>
      </p:sp>
      <p:sp>
        <p:nvSpPr>
          <p:cNvPr id="13" name="Text 11"/>
          <p:cNvSpPr/>
          <p:nvPr/>
        </p:nvSpPr>
        <p:spPr>
          <a:xfrm>
            <a:off x="7802880" y="5425440"/>
            <a:ext cx="377952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467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A9BE5B-F947-4F4F-522E-539E4F404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792" y="4314767"/>
            <a:ext cx="2144255" cy="2112488"/>
          </a:xfrm>
          <a:prstGeom prst="rect">
            <a:avLst/>
          </a:prstGeom>
        </p:spPr>
      </p:pic>
      <p:pic>
        <p:nvPicPr>
          <p:cNvPr id="14" name="图片 13" descr="形状&#10;&#10;AI 生成的内容可能不正确。">
            <a:extLst>
              <a:ext uri="{FF2B5EF4-FFF2-40B4-BE49-F238E27FC236}">
                <a16:creationId xmlns:a16="http://schemas.microsoft.com/office/drawing/2014/main" id="{38A86CFC-EB59-76AA-BA8E-949C15CB6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98" y="4311951"/>
            <a:ext cx="2143881" cy="213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0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FORMULATION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609600" y="829056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Formulation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609600" y="1828800"/>
            <a:ext cx="5608320" cy="43891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Model</a:t>
            </a:r>
            <a:endParaRPr lang="en-US" sz="1867"/>
          </a:p>
          <a:p>
            <a:pPr marL="0" indent="0">
              <a:buNone/>
            </a:pPr>
            <a:r>
              <a:rPr lang="en-US" sz="1733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Two-player · Zero-sum · Perfect information</a:t>
            </a:r>
            <a:endParaRPr lang="en-US" sz="1867"/>
          </a:p>
          <a:p>
            <a:pPr marL="0" indent="0">
              <a:buNone/>
            </a:pPr>
            <a:r>
              <a:rPr lang="en-US" sz="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67"/>
          </a:p>
          <a:p>
            <a:pPr marL="0" indent="0">
              <a:buNone/>
            </a:pPr>
            <a:r>
              <a:rPr lang="en-US" sz="1867" b="1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</a:t>
            </a:r>
            <a:endParaRPr lang="en-US" sz="1867"/>
          </a:p>
          <a:p>
            <a:pPr marL="0" indent="0">
              <a:buNone/>
            </a:pPr>
            <a:r>
              <a:rPr lang="en-US" sz="1733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∈ { 0, 1, 2 }  →  15×15 matrix</a:t>
            </a:r>
            <a:endParaRPr lang="en-US" sz="1867"/>
          </a:p>
          <a:p>
            <a:pPr marL="0" indent="0">
              <a:buNone/>
            </a:pPr>
            <a:r>
              <a:rPr lang="en-US" sz="8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67"/>
          </a:p>
          <a:p>
            <a:pPr marL="0" indent="0">
              <a:buNone/>
            </a:pPr>
            <a:r>
              <a:rPr lang="en-US" sz="1867" b="1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Values</a:t>
            </a:r>
            <a:endParaRPr lang="en-US" sz="1867"/>
          </a:p>
          <a:p>
            <a:pPr marL="0" indent="0">
              <a:buNone/>
            </a:pPr>
            <a:r>
              <a:rPr lang="en-US" sz="1733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 player wins</a:t>
            </a:r>
            <a:endParaRPr lang="en-US" sz="1867"/>
          </a:p>
          <a:p>
            <a:pPr marL="0" indent="0">
              <a:buNone/>
            </a:pPr>
            <a:r>
              <a:rPr lang="en-US" sz="1733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 opponent wins</a:t>
            </a:r>
            <a:endParaRPr lang="en-US" sz="1867"/>
          </a:p>
          <a:p>
            <a:pPr marL="0" indent="0">
              <a:buNone/>
            </a:pPr>
            <a:r>
              <a:rPr lang="en-US" sz="1733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  draw</a:t>
            </a:r>
            <a:endParaRPr lang="en-US" sz="1867"/>
          </a:p>
        </p:txBody>
      </p:sp>
      <p:sp>
        <p:nvSpPr>
          <p:cNvPr id="6" name="Shape 4"/>
          <p:cNvSpPr/>
          <p:nvPr/>
        </p:nvSpPr>
        <p:spPr>
          <a:xfrm>
            <a:off x="6583680" y="1828800"/>
            <a:ext cx="4998720" cy="13411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7" name="Text 5"/>
          <p:cNvSpPr/>
          <p:nvPr/>
        </p:nvSpPr>
        <p:spPr>
          <a:xfrm>
            <a:off x="6583680" y="1828800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Objective</a:t>
            </a:r>
            <a:endParaRPr lang="en-US" sz="1467"/>
          </a:p>
        </p:txBody>
      </p:sp>
      <p:sp>
        <p:nvSpPr>
          <p:cNvPr id="8" name="Text 6"/>
          <p:cNvSpPr/>
          <p:nvPr/>
        </p:nvSpPr>
        <p:spPr>
          <a:xfrm>
            <a:off x="6583680" y="2292096"/>
            <a:ext cx="49987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67" b="1">
                <a:solidFill>
                  <a:srgbClr val="F5CB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 min  max  ···  V(s)</a:t>
            </a:r>
            <a:endParaRPr lang="en-US" sz="2267"/>
          </a:p>
        </p:txBody>
      </p:sp>
      <p:sp>
        <p:nvSpPr>
          <p:cNvPr id="9" name="Text 7"/>
          <p:cNvSpPr/>
          <p:nvPr/>
        </p:nvSpPr>
        <p:spPr>
          <a:xfrm>
            <a:off x="6583680" y="3474720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directions detected: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583680" y="3962400"/>
            <a:ext cx="499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Horizontal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6583680" y="4389120"/>
            <a:ext cx="499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Vertical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583680" y="4815840"/>
            <a:ext cx="499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 Main diagonal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583680" y="5242560"/>
            <a:ext cx="499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Anti-diagonal</a:t>
            </a:r>
            <a:endParaRPr lang="en-US" sz="1600"/>
          </a:p>
        </p:txBody>
      </p:sp>
      <p:pic>
        <p:nvPicPr>
          <p:cNvPr id="14" name="Picture 1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744E9BE2-6BB2-CA73-F100-6594B7904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040" y="118184"/>
            <a:ext cx="2858581" cy="5645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FF6987-6D67-86AD-5772-76C782CC5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0203" y="3534044"/>
            <a:ext cx="2144255" cy="211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6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0551D7-DAD4-030B-8BBD-4AAF640F1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0E8E59-221D-AEC6-2D8E-C788392EB6A1}"/>
              </a:ext>
            </a:extLst>
          </p:cNvPr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E842D9-991D-B408-7F27-C488DB92FC93}"/>
              </a:ext>
            </a:extLst>
          </p:cNvPr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FORMULATION</a:t>
            </a:r>
            <a:endParaRPr lang="en-US" sz="1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91CC00-EF08-4FE5-8CE6-BAE3669E8AC7}"/>
              </a:ext>
            </a:extLst>
          </p:cNvPr>
          <p:cNvSpPr/>
          <p:nvPr/>
        </p:nvSpPr>
        <p:spPr>
          <a:xfrm>
            <a:off x="609600" y="829056"/>
            <a:ext cx="10972800" cy="853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 err="1">
                <a:solidFill>
                  <a:srgbClr val="1A1A2E"/>
                </a:solidFill>
                <a:ea typeface="+mn-lt"/>
                <a:cs typeface="+mn-lt"/>
              </a:rPr>
              <a:t>Gomoku</a:t>
            </a:r>
            <a:r>
              <a:rPr lang="en-US" sz="4000" b="1" dirty="0">
                <a:solidFill>
                  <a:srgbClr val="1A1A2E"/>
                </a:solidFill>
                <a:ea typeface="+mn-lt"/>
                <a:cs typeface="+mn-lt"/>
              </a:rPr>
              <a:t> as a Search Tree</a:t>
            </a:r>
          </a:p>
        </p:txBody>
      </p:sp>
      <p:pic>
        <p:nvPicPr>
          <p:cNvPr id="14" name="Picture 1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F955FF8E-34B8-CBB2-97F0-7ED398617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040" y="118184"/>
            <a:ext cx="2858581" cy="5645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BB1BD2-94FC-53F2-7C67-52AD70C92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720" y="1576036"/>
            <a:ext cx="9628048" cy="28182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A11E9C7-7951-E480-EFCB-99013CEC3C9C}"/>
              </a:ext>
            </a:extLst>
          </p:cNvPr>
          <p:cNvSpPr txBox="1"/>
          <p:nvPr/>
        </p:nvSpPr>
        <p:spPr>
          <a:xfrm>
            <a:off x="1062183" y="4397206"/>
            <a:ext cx="1111827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Alpha-Beta Minimax Searches a game tree where: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Node </a:t>
            </a:r>
            <a:r>
              <a:rPr lang="en-US">
                <a:ea typeface="+mn-lt"/>
                <a:cs typeface="+mn-lt"/>
              </a:rPr>
              <a:t>= board state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Edge </a:t>
            </a:r>
            <a:r>
              <a:rPr lang="en-US">
                <a:ea typeface="+mn-lt"/>
                <a:cs typeface="+mn-lt"/>
              </a:rPr>
              <a:t>= one move (place a stone somewhere)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Max Layer </a:t>
            </a:r>
            <a:r>
              <a:rPr lang="en-US">
                <a:ea typeface="+mn-lt"/>
                <a:cs typeface="+mn-lt"/>
              </a:rPr>
              <a:t>(α) = AI chooses the move with highest score | </a:t>
            </a:r>
            <a:r>
              <a:rPr lang="en-US" b="1">
                <a:ea typeface="+mn-lt"/>
                <a:cs typeface="+mn-lt"/>
              </a:rPr>
              <a:t>Min Layer </a:t>
            </a:r>
            <a:r>
              <a:rPr lang="en-US">
                <a:ea typeface="+mn-lt"/>
                <a:cs typeface="+mn-lt"/>
              </a:rPr>
              <a:t>(β) = opponent chooses the move that is </a:t>
            </a:r>
            <a:r>
              <a:rPr lang="en-US" dirty="0">
                <a:ea typeface="+mn-lt"/>
                <a:cs typeface="+mn-lt"/>
              </a:rPr>
              <a:t>worst for AI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Alpha-Beta pruning</a:t>
            </a:r>
            <a:r>
              <a:rPr lang="en-US">
                <a:ea typeface="+mn-lt"/>
                <a:cs typeface="+mn-lt"/>
              </a:rPr>
              <a:t> skips branches that cannot change the final choice</a:t>
            </a:r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US" b="1">
                <a:ea typeface="+mn-lt"/>
                <a:cs typeface="+mn-lt"/>
              </a:rPr>
              <a:t>Heuristic</a:t>
            </a:r>
            <a:r>
              <a:rPr lang="en-US">
                <a:ea typeface="+mn-lt"/>
                <a:cs typeface="+mn-lt"/>
              </a:rPr>
              <a:t> = looks only a few moves ahead, then estimates the board 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6834FF-AA47-C708-3400-28A9689B8300}"/>
              </a:ext>
            </a:extLst>
          </p:cNvPr>
          <p:cNvSpPr txBox="1"/>
          <p:nvPr/>
        </p:nvSpPr>
        <p:spPr>
          <a:xfrm>
            <a:off x="2823995" y="120447"/>
            <a:ext cx="609987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onsolas"/>
              </a:rPr>
              <a:t>Project Goal: Build an AI agent that chooses the best </a:t>
            </a:r>
            <a:r>
              <a:rPr lang="en-US" sz="1400" dirty="0" err="1">
                <a:latin typeface="Consolas"/>
              </a:rPr>
              <a:t>Gomoku</a:t>
            </a:r>
            <a:r>
              <a:rPr lang="en-US" sz="1400" dirty="0">
                <a:latin typeface="Consolas"/>
              </a:rPr>
              <a:t> move by searching future board states and evaluating possible outcomes.</a:t>
            </a:r>
            <a:endParaRPr lang="en-US" sz="1400" dirty="0"/>
          </a:p>
          <a:p>
            <a:pPr algn="l"/>
            <a:endParaRPr lang="en-US" sz="1400" dirty="0"/>
          </a:p>
        </p:txBody>
      </p:sp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D509EC4-D4FE-A92E-4EA4-CF24633E42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1" r="180" b="-394"/>
          <a:stretch>
            <a:fillRect/>
          </a:stretch>
        </p:blipFill>
        <p:spPr>
          <a:xfrm>
            <a:off x="4502336" y="1575310"/>
            <a:ext cx="6178416" cy="2818481"/>
          </a:xfrm>
          <a:prstGeom prst="rect">
            <a:avLst/>
          </a:prstGeom>
        </p:spPr>
      </p:pic>
      <p:sp>
        <p:nvSpPr>
          <p:cNvPr id="8" name="TextBox 34">
            <a:extLst>
              <a:ext uri="{FF2B5EF4-FFF2-40B4-BE49-F238E27FC236}">
                <a16:creationId xmlns:a16="http://schemas.microsoft.com/office/drawing/2014/main" id="{6527032C-D4F9-DBDC-7FE5-E8C4C9B1EC60}"/>
              </a:ext>
            </a:extLst>
          </p:cNvPr>
          <p:cNvSpPr txBox="1"/>
          <p:nvPr/>
        </p:nvSpPr>
        <p:spPr>
          <a:xfrm>
            <a:off x="6410538" y="4393559"/>
            <a:ext cx="5534783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Opponent chooses 60 to prevent AI from reaching 95, prune 95 and choose 70 (best score under worst case)</a:t>
            </a:r>
          </a:p>
        </p:txBody>
      </p:sp>
    </p:spTree>
    <p:extLst>
      <p:ext uri="{BB962C8B-B14F-4D97-AF65-F5344CB8AC3E}">
        <p14:creationId xmlns:p14="http://schemas.microsoft.com/office/powerpoint/2010/main" val="2318337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78BB50-400D-738D-F512-C9C250705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A78AD4-86B5-1A1F-8F43-671F7C17C5E7}"/>
              </a:ext>
            </a:extLst>
          </p:cNvPr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828CA0-97B1-3722-DA72-573B450A326B}"/>
              </a:ext>
            </a:extLst>
          </p:cNvPr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C27F08-138E-9AD9-96BF-0FB322BAFA75}"/>
              </a:ext>
            </a:extLst>
          </p:cNvPr>
          <p:cNvSpPr/>
          <p:nvPr/>
        </p:nvSpPr>
        <p:spPr>
          <a:xfrm>
            <a:off x="609600" y="829056"/>
            <a:ext cx="11584172" cy="8800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rgbClr val="1A1A2E"/>
                </a:solidFill>
                <a:latin typeface="Georgia"/>
              </a:rPr>
              <a:t>Overall Workflow: AI's turn to place stone</a:t>
            </a:r>
            <a:endParaRPr lang="en-US" altLang="ja-JP" sz="4000" b="1">
              <a:solidFill>
                <a:srgbClr val="1A1A2E"/>
              </a:solidFill>
              <a:latin typeface="Georgia"/>
              <a:ea typeface="ＭＳ Ｐゴシック"/>
            </a:endParaRPr>
          </a:p>
        </p:txBody>
      </p:sp>
      <p:pic>
        <p:nvPicPr>
          <p:cNvPr id="14" name="Picture 1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117D45B3-FB81-BE8C-2780-64D18CB31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040" y="118184"/>
            <a:ext cx="2858581" cy="5645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56FD786-1A76-F0F8-279D-D070CAFEAE31}"/>
              </a:ext>
            </a:extLst>
          </p:cNvPr>
          <p:cNvSpPr txBox="1"/>
          <p:nvPr/>
        </p:nvSpPr>
        <p:spPr>
          <a:xfrm>
            <a:off x="611909" y="1500908"/>
            <a:ext cx="9582726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b="1">
                <a:ea typeface="+mn-lt"/>
                <a:cs typeface="+mn-lt"/>
              </a:rPr>
              <a:t>Run Alpha-Beta Minimax search:</a:t>
            </a:r>
            <a:endParaRPr lang="en-US" b="1"/>
          </a:p>
          <a:p>
            <a:pPr marL="742950" lvl="1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Step 1: Decide all candidate moves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Step 2: Order moves by priority (how good each move is)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Step 3: Simulate each move recursively and use returned scores</a:t>
            </a:r>
            <a:endParaRPr lang="en-US"/>
          </a:p>
          <a:p>
            <a:pPr marL="1200150" lvl="2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AI layer keeps highest returned score and updates α</a:t>
            </a:r>
          </a:p>
          <a:p>
            <a:pPr marL="1200150" lvl="2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Opponent layer keeps lowest returned score and updates β </a:t>
            </a:r>
          </a:p>
          <a:p>
            <a:pPr marL="1200150" lvl="2" indent="-28575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Prune branches when β ≤ α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Step 4: When a branch reaches the depth limit, evaluate the board:</a:t>
            </a:r>
          </a:p>
          <a:p>
            <a:pPr marL="1200150" lvl="2" indent="-285750">
              <a:buFont typeface="Wingdings,Sans-Serif"/>
              <a:buChar char="§"/>
            </a:pPr>
            <a:r>
              <a:rPr lang="en-US">
                <a:ea typeface="+mn-lt"/>
                <a:cs typeface="+mn-lt"/>
              </a:rPr>
              <a:t>Use heuristic patterns such as five, open four, rush four, and open three</a:t>
            </a:r>
          </a:p>
          <a:p>
            <a:pPr marL="1200150" lvl="2" indent="-285750">
              <a:buFont typeface="Wingdings,Sans-Serif"/>
              <a:buChar char="§"/>
            </a:pPr>
            <a:r>
              <a:rPr lang="en-US">
                <a:ea typeface="+mn-lt"/>
                <a:cs typeface="+mn-lt"/>
              </a:rPr>
              <a:t>Return the score back up the search tree (step 3)</a:t>
            </a:r>
          </a:p>
          <a:p>
            <a:pPr lvl="1"/>
            <a:r>
              <a:rPr lang="en-US">
                <a:ea typeface="+mn-lt"/>
                <a:cs typeface="+mn-lt"/>
              </a:rPr>
              <a:t>End root search when: all candidate moves are searched, all remaining branches are pruned, or an immediate winning move is found.</a:t>
            </a:r>
            <a:endParaRPr lang="en-US"/>
          </a:p>
          <a:p>
            <a:pPr marL="342900" indent="-342900">
              <a:buAutoNum type="arabicPeriod"/>
            </a:pPr>
            <a:r>
              <a:rPr lang="en-US" b="1">
                <a:ea typeface="+mn-lt"/>
                <a:cs typeface="+mn-lt"/>
              </a:rPr>
              <a:t>Return and play the best move</a:t>
            </a:r>
          </a:p>
          <a:p>
            <a:pPr marL="800100" lvl="1" indent="-34290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The root search returns the best move</a:t>
            </a:r>
          </a:p>
          <a:p>
            <a:pPr marL="800100" lvl="1" indent="-34290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The game places that move on the real board</a:t>
            </a:r>
            <a:endParaRPr lang="en-US"/>
          </a:p>
        </p:txBody>
      </p:sp>
      <p:pic>
        <p:nvPicPr>
          <p:cNvPr id="5" name="Picture 4" descr="A grid of black dots with letters&#10;&#10;AI-generated content may be incorrect.">
            <a:extLst>
              <a:ext uri="{FF2B5EF4-FFF2-40B4-BE49-F238E27FC236}">
                <a16:creationId xmlns:a16="http://schemas.microsoft.com/office/drawing/2014/main" id="{EFEBB92C-B502-EEFD-86C7-192AF5788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785" y="4918998"/>
            <a:ext cx="139065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559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Workf</a:t>
            </a:r>
            <a:r>
              <a:rPr lang="en-US" sz="1200" b="1">
                <a:solidFill>
                  <a:srgbClr val="FFFFFF"/>
                </a:solidFill>
              </a:rPr>
              <a:t>low</a:t>
            </a: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600" y="829056"/>
            <a:ext cx="10972800" cy="853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buAutoNum type="arabicPeriod"/>
            </a:pPr>
            <a:r>
              <a:rPr lang="en-US" sz="4000" b="1">
                <a:solidFill>
                  <a:srgbClr val="1A1A2E"/>
                </a:solidFill>
                <a:latin typeface="Georgia"/>
              </a:rPr>
              <a:t>Steps in Detail</a:t>
            </a:r>
            <a:endParaRPr lang="en-US"/>
          </a:p>
        </p:txBody>
      </p:sp>
      <p:pic>
        <p:nvPicPr>
          <p:cNvPr id="20" name="Picture 19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52097B17-2353-C986-7083-21068063E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040" y="118184"/>
            <a:ext cx="2858581" cy="564569"/>
          </a:xfrm>
          <a:prstGeom prst="rect">
            <a:avLst/>
          </a:prstGeom>
        </p:spPr>
      </p:pic>
      <p:pic>
        <p:nvPicPr>
          <p:cNvPr id="21" name="Picture 2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E429C04-1CD7-8C7D-255F-AA159A2D8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3215" y="830670"/>
            <a:ext cx="6485638" cy="207777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518D84E-A933-3801-699D-3E6A0CB920C2}"/>
              </a:ext>
            </a:extLst>
          </p:cNvPr>
          <p:cNvSpPr txBox="1"/>
          <p:nvPr/>
        </p:nvSpPr>
        <p:spPr>
          <a:xfrm>
            <a:off x="611372" y="1958162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Step 1: Decide Candidate Moves​ ---&gt;</a:t>
            </a:r>
          </a:p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2C5286-17D1-A8A3-868B-099C3E885720}"/>
              </a:ext>
            </a:extLst>
          </p:cNvPr>
          <p:cNvSpPr txBox="1"/>
          <p:nvPr/>
        </p:nvSpPr>
        <p:spPr>
          <a:xfrm>
            <a:off x="611372" y="2906232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Step 2: </a:t>
            </a:r>
            <a:r>
              <a:rPr lang="en-US" sz="2000" b="1">
                <a:ea typeface="+mn-lt"/>
                <a:cs typeface="+mn-lt"/>
              </a:rPr>
              <a:t>Order the Moves by Priority</a:t>
            </a:r>
            <a:endParaRPr lang="en-US" sz="2000" b="1"/>
          </a:p>
          <a:p>
            <a:pPr algn="ctr"/>
            <a:endParaRPr lang="en-US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9E5CC8-DE48-F05B-A4D1-3FACEF83D180}"/>
              </a:ext>
            </a:extLst>
          </p:cNvPr>
          <p:cNvSpPr txBox="1"/>
          <p:nvPr/>
        </p:nvSpPr>
        <p:spPr>
          <a:xfrm>
            <a:off x="611372" y="4439092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Step 3: </a:t>
            </a:r>
            <a:r>
              <a:rPr lang="en-US" sz="2000" b="1">
                <a:ea typeface="+mn-lt"/>
                <a:cs typeface="+mn-lt"/>
              </a:rPr>
              <a:t>Simulate each move recursively </a:t>
            </a:r>
            <a:endParaRPr lang="en-US" sz="2000" b="1"/>
          </a:p>
          <a:p>
            <a:pPr algn="ctr"/>
            <a:endParaRPr lang="en-US" b="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D783C4-6F19-F95E-4319-8929DCE03F98}"/>
              </a:ext>
            </a:extLst>
          </p:cNvPr>
          <p:cNvSpPr txBox="1"/>
          <p:nvPr/>
        </p:nvSpPr>
        <p:spPr>
          <a:xfrm>
            <a:off x="611650" y="3240359"/>
            <a:ext cx="669794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Try the most promising moves first (highest α score):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Move Priority</a:t>
            </a:r>
            <a:r>
              <a:rPr lang="en-US">
                <a:ea typeface="+mn-lt"/>
                <a:cs typeface="+mn-lt"/>
              </a:rPr>
              <a:t>: immediate winning moves &gt; blocking opponent wins &gt; other moves.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This helps α and β update faster.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52162D-EED9-D9E3-255D-69B4B3695B5A}"/>
              </a:ext>
            </a:extLst>
          </p:cNvPr>
          <p:cNvSpPr txBox="1"/>
          <p:nvPr/>
        </p:nvSpPr>
        <p:spPr>
          <a:xfrm>
            <a:off x="611245" y="4885976"/>
            <a:ext cx="638037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After each move, update α and β: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α = best score AI can guarantee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β = worst score opponent can let AI have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If β ≤ α, prune remaining branches</a:t>
            </a:r>
            <a:endParaRPr lang="en-US"/>
          </a:p>
        </p:txBody>
      </p:sp>
      <p:pic>
        <p:nvPicPr>
          <p:cNvPr id="34" name="Picture 3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AD957F1-BE86-E730-9A11-48ECE7B53F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1" r="180" b="-394"/>
          <a:stretch>
            <a:fillRect/>
          </a:stretch>
        </p:blipFill>
        <p:spPr>
          <a:xfrm>
            <a:off x="6413538" y="3845804"/>
            <a:ext cx="4911591" cy="224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64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380C9-191E-8D3F-9246-CB90A6B25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5FF1EF-E990-692B-E4A8-198B504E4372}"/>
              </a:ext>
            </a:extLst>
          </p:cNvPr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C52A79-BF54-44B0-5DC8-BC69553976BD}"/>
              </a:ext>
            </a:extLst>
          </p:cNvPr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rgbClr val="FFFFFF"/>
                </a:solidFill>
              </a:rPr>
              <a:t>Return Score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8CB1F1F-4AE5-0A70-FBCC-5D53970C714D}"/>
              </a:ext>
            </a:extLst>
          </p:cNvPr>
          <p:cNvSpPr/>
          <p:nvPr/>
        </p:nvSpPr>
        <p:spPr>
          <a:xfrm>
            <a:off x="609600" y="829056"/>
            <a:ext cx="10972800" cy="853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000" b="1" dirty="0">
              <a:solidFill>
                <a:srgbClr val="1A1A2E"/>
              </a:solidFill>
              <a:latin typeface="Georgia"/>
            </a:endParaRPr>
          </a:p>
        </p:txBody>
      </p:sp>
      <p:pic>
        <p:nvPicPr>
          <p:cNvPr id="20" name="Picture 19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6694C64E-C5AF-BC2E-CC8D-80CBA3BB2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040" y="118184"/>
            <a:ext cx="2858581" cy="5645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81E5C8-8DB3-5DA1-12A8-68F6F163AF9E}"/>
              </a:ext>
            </a:extLst>
          </p:cNvPr>
          <p:cNvSpPr txBox="1"/>
          <p:nvPr/>
        </p:nvSpPr>
        <p:spPr>
          <a:xfrm>
            <a:off x="938290" y="2352943"/>
            <a:ext cx="70443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D301F-C354-CAEF-4A7E-94E6EE012CB0}"/>
              </a:ext>
            </a:extLst>
          </p:cNvPr>
          <p:cNvSpPr txBox="1"/>
          <p:nvPr/>
        </p:nvSpPr>
        <p:spPr>
          <a:xfrm>
            <a:off x="1411639" y="1533462"/>
            <a:ext cx="75496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(i.e., depth = 4: AI -&gt; Player -&gt; AI -&gt; Player)</a:t>
            </a:r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BB1AFDD-D83C-DF75-94AC-DB6524360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656" y="1904135"/>
            <a:ext cx="5354782" cy="34884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95E580-92E4-FCE4-6116-BF38BD2D33D1}"/>
              </a:ext>
            </a:extLst>
          </p:cNvPr>
          <p:cNvSpPr txBox="1"/>
          <p:nvPr/>
        </p:nvSpPr>
        <p:spPr>
          <a:xfrm>
            <a:off x="612074" y="1903963"/>
            <a:ext cx="566139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Use heuristic function to:</a:t>
            </a:r>
          </a:p>
          <a:p>
            <a:endParaRPr lang="en-US"/>
          </a:p>
          <a:p>
            <a:r>
              <a:rPr lang="en-US"/>
              <a:t>Scans 4 directions </a:t>
            </a:r>
            <a:r>
              <a:rPr lang="en-US">
                <a:ea typeface="+mn-lt"/>
                <a:cs typeface="+mn-lt"/>
              </a:rPr>
              <a:t>(  →    ↓    ↘     ↗ ) and detect patterns.</a:t>
            </a:r>
            <a:endParaRPr lang="en-US"/>
          </a:p>
          <a:p>
            <a:endParaRPr lang="en-US"/>
          </a:p>
          <a:p>
            <a:r>
              <a:rPr lang="en-US"/>
              <a:t>Calculate the score: </a:t>
            </a:r>
            <a:r>
              <a:rPr lang="en-US">
                <a:ea typeface="+mn-lt"/>
                <a:cs typeface="+mn-lt"/>
              </a:rPr>
              <a:t>Final score = AI pattern score − opponent pattern score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Minimax uses this score to compare moves and choose the best one. Return the score back to the recursive search tree (step 3) 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D2FD0-4247-6ABA-8A14-3031D504E2C8}"/>
              </a:ext>
            </a:extLst>
          </p:cNvPr>
          <p:cNvSpPr txBox="1"/>
          <p:nvPr/>
        </p:nvSpPr>
        <p:spPr>
          <a:xfrm>
            <a:off x="611372" y="1134139"/>
            <a:ext cx="6096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Step 4: Stop at the depth Limit:  </a:t>
            </a:r>
            <a:endParaRPr 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262D5-DE86-D4CF-A177-A171534DA41E}"/>
              </a:ext>
            </a:extLst>
          </p:cNvPr>
          <p:cNvSpPr txBox="1"/>
          <p:nvPr/>
        </p:nvSpPr>
        <p:spPr>
          <a:xfrm>
            <a:off x="614362" y="5572125"/>
            <a:ext cx="596503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End root search when: all candidate moves are searched, all remaining branches are pruned, or an immediate winning move is found. Now the AI does the best move and place the stone.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361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game&#10;&#10;AI-generated content may be incorrect.">
            <a:extLst>
              <a:ext uri="{FF2B5EF4-FFF2-40B4-BE49-F238E27FC236}">
                <a16:creationId xmlns:a16="http://schemas.microsoft.com/office/drawing/2014/main" id="{D77F60AD-1193-A5D0-DD1B-2621968D0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22" y="643467"/>
            <a:ext cx="4888610" cy="557106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game&#10;&#10;AI-generated content may be incorrect.">
            <a:extLst>
              <a:ext uri="{FF2B5EF4-FFF2-40B4-BE49-F238E27FC236}">
                <a16:creationId xmlns:a16="http://schemas.microsoft.com/office/drawing/2014/main" id="{B6C253CA-6BD1-9574-D38C-987E208A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75" y="643467"/>
            <a:ext cx="493039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048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EXPERIMENTS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609600" y="829056"/>
            <a:ext cx="10972800" cy="853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rgbClr val="1A1A2E"/>
                </a:solidFill>
                <a:latin typeface="Georgia"/>
              </a:rPr>
              <a:t>AI vs. Random Player</a:t>
            </a: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9600" y="1889760"/>
            <a:ext cx="3596640" cy="23164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6" name="Text 4"/>
          <p:cNvSpPr/>
          <p:nvPr/>
        </p:nvSpPr>
        <p:spPr>
          <a:xfrm>
            <a:off x="609600" y="2011680"/>
            <a:ext cx="3596640" cy="1219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867" b="1">
                <a:solidFill>
                  <a:srgbClr val="F5CB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5867"/>
          </a:p>
        </p:txBody>
      </p:sp>
      <p:sp>
        <p:nvSpPr>
          <p:cNvPr id="7" name="Text 5"/>
          <p:cNvSpPr/>
          <p:nvPr/>
        </p:nvSpPr>
        <p:spPr>
          <a:xfrm>
            <a:off x="609600" y="3291840"/>
            <a:ext cx="3596640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vs Random</a:t>
            </a:r>
            <a:endParaRPr lang="en-US" sz="1467"/>
          </a:p>
          <a:p>
            <a:pPr marL="0" indent="0" algn="ctr">
              <a:buNone/>
            </a:pPr>
            <a:r>
              <a:rPr lang="en-US" sz="1467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games, depth 2)</a:t>
            </a:r>
            <a:endParaRPr lang="en-US" sz="1467"/>
          </a:p>
        </p:txBody>
      </p:sp>
      <p:sp>
        <p:nvSpPr>
          <p:cNvPr id="8" name="Shape 6"/>
          <p:cNvSpPr/>
          <p:nvPr/>
        </p:nvSpPr>
        <p:spPr>
          <a:xfrm>
            <a:off x="4450080" y="1889760"/>
            <a:ext cx="3596640" cy="23164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9" name="Text 7"/>
          <p:cNvSpPr/>
          <p:nvPr/>
        </p:nvSpPr>
        <p:spPr>
          <a:xfrm>
            <a:off x="4450080" y="2011680"/>
            <a:ext cx="3596640" cy="1219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867" b="1">
                <a:solidFill>
                  <a:srgbClr val="F5CB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</a:t>
            </a:r>
            <a:endParaRPr lang="en-US" sz="5867"/>
          </a:p>
        </p:txBody>
      </p:sp>
      <p:sp>
        <p:nvSpPr>
          <p:cNvPr id="10" name="Text 8"/>
          <p:cNvSpPr/>
          <p:nvPr/>
        </p:nvSpPr>
        <p:spPr>
          <a:xfrm>
            <a:off x="4450080" y="3291840"/>
            <a:ext cx="3596640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moves to win</a:t>
            </a:r>
            <a:endParaRPr lang="en-US" sz="1467"/>
          </a:p>
          <a:p>
            <a:pPr marL="0" indent="0" algn="ctr">
              <a:buNone/>
            </a:pPr>
            <a:r>
              <a:rPr lang="en-US" sz="1467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 wins quickly)</a:t>
            </a:r>
            <a:endParaRPr lang="en-US" sz="1467"/>
          </a:p>
        </p:txBody>
      </p:sp>
      <p:sp>
        <p:nvSpPr>
          <p:cNvPr id="11" name="Shape 9"/>
          <p:cNvSpPr/>
          <p:nvPr/>
        </p:nvSpPr>
        <p:spPr>
          <a:xfrm>
            <a:off x="8290560" y="1889760"/>
            <a:ext cx="3596640" cy="23164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12" name="Text 10"/>
          <p:cNvSpPr/>
          <p:nvPr/>
        </p:nvSpPr>
        <p:spPr>
          <a:xfrm>
            <a:off x="8290560" y="2011680"/>
            <a:ext cx="3596640" cy="1219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867" b="1">
                <a:solidFill>
                  <a:srgbClr val="F5CB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0.031s</a:t>
            </a:r>
            <a:endParaRPr lang="en-US" sz="5867"/>
          </a:p>
        </p:txBody>
      </p:sp>
      <p:sp>
        <p:nvSpPr>
          <p:cNvPr id="13" name="Text 11"/>
          <p:cNvSpPr/>
          <p:nvPr/>
        </p:nvSpPr>
        <p:spPr>
          <a:xfrm>
            <a:off x="8290560" y="3291840"/>
            <a:ext cx="3596640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decision time</a:t>
            </a:r>
            <a:endParaRPr lang="en-US" sz="1467"/>
          </a:p>
          <a:p>
            <a:pPr marL="0" indent="0" algn="ctr">
              <a:buNone/>
            </a:pPr>
            <a:r>
              <a:rPr lang="en-US" sz="1467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(depth 2, per move)</a:t>
            </a:r>
            <a:endParaRPr lang="en-US" sz="1467"/>
          </a:p>
        </p:txBody>
      </p:sp>
      <p:sp>
        <p:nvSpPr>
          <p:cNvPr id="14" name="Text 12"/>
          <p:cNvSpPr/>
          <p:nvPr/>
        </p:nvSpPr>
        <p:spPr>
          <a:xfrm>
            <a:off x="609600" y="445008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AI (Black, Alpha-Beta depth=2) vs Random Player (White) · 100 games · random.seed(42)</a:t>
            </a:r>
            <a:endParaRPr lang="en-US" sz="1467"/>
          </a:p>
        </p:txBody>
      </p:sp>
      <p:sp>
        <p:nvSpPr>
          <p:cNvPr id="15" name="Text 13"/>
          <p:cNvSpPr/>
          <p:nvPr/>
        </p:nvSpPr>
        <p:spPr>
          <a:xfrm>
            <a:off x="609600" y="4998720"/>
            <a:ext cx="60960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Time by Search Depth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09600" y="5547360"/>
            <a:ext cx="13411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1</a:t>
            </a:r>
            <a:endParaRPr lang="en-US" sz="1333"/>
          </a:p>
        </p:txBody>
      </p:sp>
      <p:sp>
        <p:nvSpPr>
          <p:cNvPr id="17" name="Shape 15"/>
          <p:cNvSpPr/>
          <p:nvPr/>
        </p:nvSpPr>
        <p:spPr>
          <a:xfrm>
            <a:off x="2072641" y="5596128"/>
            <a:ext cx="199423" cy="243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18" name="Text 16"/>
          <p:cNvSpPr/>
          <p:nvPr/>
        </p:nvSpPr>
        <p:spPr>
          <a:xfrm>
            <a:off x="2393983" y="5547360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0.008s</a:t>
            </a:r>
            <a:endParaRPr lang="en-US" sz="1333"/>
          </a:p>
        </p:txBody>
      </p:sp>
      <p:sp>
        <p:nvSpPr>
          <p:cNvPr id="19" name="Text 17"/>
          <p:cNvSpPr/>
          <p:nvPr/>
        </p:nvSpPr>
        <p:spPr>
          <a:xfrm>
            <a:off x="609600" y="5949696"/>
            <a:ext cx="13411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2</a:t>
            </a:r>
            <a:endParaRPr lang="en-US" sz="1333"/>
          </a:p>
        </p:txBody>
      </p:sp>
      <p:sp>
        <p:nvSpPr>
          <p:cNvPr id="20" name="Shape 18"/>
          <p:cNvSpPr/>
          <p:nvPr/>
        </p:nvSpPr>
        <p:spPr>
          <a:xfrm>
            <a:off x="2072641" y="5998464"/>
            <a:ext cx="772764" cy="243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21" name="Text 19"/>
          <p:cNvSpPr/>
          <p:nvPr/>
        </p:nvSpPr>
        <p:spPr>
          <a:xfrm>
            <a:off x="2967324" y="5949696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0.031s</a:t>
            </a:r>
            <a:endParaRPr lang="en-US" sz="1333"/>
          </a:p>
        </p:txBody>
      </p:sp>
      <p:sp>
        <p:nvSpPr>
          <p:cNvPr id="22" name="Text 20"/>
          <p:cNvSpPr/>
          <p:nvPr/>
        </p:nvSpPr>
        <p:spPr>
          <a:xfrm>
            <a:off x="609600" y="6352032"/>
            <a:ext cx="13411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3</a:t>
            </a:r>
            <a:endParaRPr lang="en-US" sz="1333"/>
          </a:p>
        </p:txBody>
      </p:sp>
      <p:sp>
        <p:nvSpPr>
          <p:cNvPr id="23" name="Shape 21"/>
          <p:cNvSpPr/>
          <p:nvPr/>
        </p:nvSpPr>
        <p:spPr>
          <a:xfrm>
            <a:off x="2072640" y="6400800"/>
            <a:ext cx="6705600" cy="243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24" name="Text 22"/>
          <p:cNvSpPr/>
          <p:nvPr/>
        </p:nvSpPr>
        <p:spPr>
          <a:xfrm>
            <a:off x="8900160" y="6352032"/>
            <a:ext cx="121920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0.269s</a:t>
            </a:r>
            <a:endParaRPr lang="en-US" sz="1333"/>
          </a:p>
        </p:txBody>
      </p:sp>
      <p:pic>
        <p:nvPicPr>
          <p:cNvPr id="25" name="Picture 24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82629F73-2FC1-C21A-35C3-BC8D85BEA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040" y="118184"/>
            <a:ext cx="2858581" cy="56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62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3" name="Text 1"/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EXPERIMENTS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609600" y="829056"/>
            <a:ext cx="10972800" cy="853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rgbClr val="1A1A2E"/>
                </a:solidFill>
                <a:ea typeface="+mn-lt"/>
                <a:cs typeface="+mn-lt"/>
              </a:rPr>
              <a:t>Minimax vs Alpha-Beta Pruning </a:t>
            </a:r>
            <a:endParaRPr lang="en-US" b="1"/>
          </a:p>
        </p:txBody>
      </p:sp>
      <p:sp>
        <p:nvSpPr>
          <p:cNvPr id="14" name="Text 12"/>
          <p:cNvSpPr/>
          <p:nvPr/>
        </p:nvSpPr>
        <p:spPr>
          <a:xfrm>
            <a:off x="309418" y="1505989"/>
            <a:ext cx="10972800" cy="426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50">
                <a:solidFill>
                  <a:srgbClr val="7F8C8D"/>
                </a:solidFill>
                <a:ea typeface="+mn-lt"/>
                <a:cs typeface="+mn-lt"/>
              </a:rPr>
              <a:t>Setup: Minimax vs Alpha-Beta · same depth for both · 3 games / depth · Minimax alternates Black/White each game · random opening from </a:t>
            </a:r>
            <a:r>
              <a:rPr lang="en-US" sz="1450" err="1">
                <a:solidFill>
                  <a:srgbClr val="7F8C8D"/>
                </a:solidFill>
                <a:ea typeface="+mn-lt"/>
                <a:cs typeface="+mn-lt"/>
              </a:rPr>
              <a:t>centre</a:t>
            </a:r>
            <a:r>
              <a:rPr lang="en-US" sz="1450">
                <a:solidFill>
                  <a:srgbClr val="7F8C8D"/>
                </a:solidFill>
                <a:ea typeface="+mn-lt"/>
                <a:cs typeface="+mn-lt"/>
              </a:rPr>
              <a:t> 5×5 (seeded per game) · 9 games total</a:t>
            </a:r>
            <a:endParaRPr lang="en-US"/>
          </a:p>
        </p:txBody>
      </p:sp>
      <p:pic>
        <p:nvPicPr>
          <p:cNvPr id="25" name="Picture 24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82629F73-2FC1-C21A-35C3-BC8D85BEA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040" y="118184"/>
            <a:ext cx="2858581" cy="564569"/>
          </a:xfrm>
          <a:prstGeom prst="rect">
            <a:avLst/>
          </a:prstGeom>
        </p:spPr>
      </p:pic>
      <p:sp>
        <p:nvSpPr>
          <p:cNvPr id="26" name="Text 13">
            <a:extLst>
              <a:ext uri="{FF2B5EF4-FFF2-40B4-BE49-F238E27FC236}">
                <a16:creationId xmlns:a16="http://schemas.microsoft.com/office/drawing/2014/main" id="{BF21D4CF-0EE9-ACFE-0641-EFFB628799C5}"/>
              </a:ext>
            </a:extLst>
          </p:cNvPr>
          <p:cNvSpPr/>
          <p:nvPr/>
        </p:nvSpPr>
        <p:spPr>
          <a:xfrm>
            <a:off x="598055" y="1939174"/>
            <a:ext cx="6096000" cy="426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rgbClr val="1A1A2E"/>
                </a:solidFill>
                <a:ea typeface="+mn-lt"/>
                <a:cs typeface="+mn-lt"/>
              </a:rPr>
              <a:t>Node Count Comparison</a:t>
            </a:r>
            <a:endParaRPr lang="en-US" b="1"/>
          </a:p>
        </p:txBody>
      </p:sp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502B43-670D-16DB-0A5E-79505BE0B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96" y="2369704"/>
            <a:ext cx="7039263" cy="14605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312F76B-D671-4A68-22DC-D34EF7E1465D}"/>
              </a:ext>
            </a:extLst>
          </p:cNvPr>
          <p:cNvSpPr txBox="1"/>
          <p:nvPr/>
        </p:nvSpPr>
        <p:spPr>
          <a:xfrm>
            <a:off x="600528" y="4226701"/>
            <a:ext cx="791320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At Depth 1, Alpha-Beta provides no benefit — the tree is too shallow to prune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At Depth 2, Alpha-Beta eliminates 63.5% of nodes → 2.8× faster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At Depth 3, Alpha-Beta eliminates 89.7% of nodes → 13× faster (2.4 s → 0.18 s per move)</a:t>
            </a:r>
          </a:p>
        </p:txBody>
      </p:sp>
    </p:spTree>
    <p:extLst>
      <p:ext uri="{BB962C8B-B14F-4D97-AF65-F5344CB8AC3E}">
        <p14:creationId xmlns:p14="http://schemas.microsoft.com/office/powerpoint/2010/main" val="2073672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A5F43-59E5-AE2F-83D3-528239A03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1A526D-DF52-CC67-76FF-2CC0AE792F5A}"/>
              </a:ext>
            </a:extLst>
          </p:cNvPr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E5CA90-09D7-F58C-AEE3-973315D2D705}"/>
              </a:ext>
            </a:extLst>
          </p:cNvPr>
          <p:cNvSpPr/>
          <p:nvPr/>
        </p:nvSpPr>
        <p:spPr>
          <a:xfrm>
            <a:off x="609600" y="341376"/>
            <a:ext cx="1950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EXPERIMENTS</a:t>
            </a:r>
            <a:endParaRPr lang="en-US" sz="1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0242EF-6668-29A3-9B13-C3584C7BDCFC}"/>
              </a:ext>
            </a:extLst>
          </p:cNvPr>
          <p:cNvSpPr/>
          <p:nvPr/>
        </p:nvSpPr>
        <p:spPr>
          <a:xfrm>
            <a:off x="609600" y="829056"/>
            <a:ext cx="10972800" cy="853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rgbClr val="1A1A2E"/>
                </a:solidFill>
                <a:ea typeface="+mn-lt"/>
                <a:cs typeface="+mn-lt"/>
              </a:rPr>
              <a:t>Depth Analysis: Depth x vs. Depth y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9C31A6D-BB6C-18B7-A42D-C6FE00C59B39}"/>
              </a:ext>
            </a:extLst>
          </p:cNvPr>
          <p:cNvSpPr/>
          <p:nvPr/>
        </p:nvSpPr>
        <p:spPr>
          <a:xfrm>
            <a:off x="309418" y="1505989"/>
            <a:ext cx="10972800" cy="426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50">
                <a:solidFill>
                  <a:srgbClr val="7F8C8D"/>
                </a:solidFill>
                <a:ea typeface="+mn-lt"/>
                <a:cs typeface="+mn-lt"/>
              </a:rPr>
              <a:t>Setup: all depth pairs (3×3 matrix) · 3 games / matchup · random opening from </a:t>
            </a:r>
            <a:r>
              <a:rPr lang="en-US" sz="1450" err="1">
                <a:solidFill>
                  <a:srgbClr val="7F8C8D"/>
                </a:solidFill>
                <a:ea typeface="+mn-lt"/>
                <a:cs typeface="+mn-lt"/>
              </a:rPr>
              <a:t>centre</a:t>
            </a:r>
            <a:r>
              <a:rPr lang="en-US" sz="1450">
                <a:solidFill>
                  <a:srgbClr val="7F8C8D"/>
                </a:solidFill>
                <a:ea typeface="+mn-lt"/>
                <a:cs typeface="+mn-lt"/>
              </a:rPr>
              <a:t> 5×5 region (seeded per game) · 27 games total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25" name="Picture 24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076451AE-A763-1AE0-0F03-C987A12D9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040" y="118184"/>
            <a:ext cx="2858581" cy="564569"/>
          </a:xfrm>
          <a:prstGeom prst="rect">
            <a:avLst/>
          </a:prstGeom>
        </p:spPr>
      </p:pic>
      <p:sp>
        <p:nvSpPr>
          <p:cNvPr id="26" name="Text 13">
            <a:extLst>
              <a:ext uri="{FF2B5EF4-FFF2-40B4-BE49-F238E27FC236}">
                <a16:creationId xmlns:a16="http://schemas.microsoft.com/office/drawing/2014/main" id="{978CE2A4-58BD-4497-4372-CCD25E46ECEE}"/>
              </a:ext>
            </a:extLst>
          </p:cNvPr>
          <p:cNvSpPr/>
          <p:nvPr/>
        </p:nvSpPr>
        <p:spPr>
          <a:xfrm>
            <a:off x="598055" y="1939174"/>
            <a:ext cx="6096000" cy="426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rgbClr val="1A1A2E"/>
                </a:solidFill>
                <a:ea typeface="+mn-lt"/>
                <a:cs typeface="+mn-lt"/>
              </a:rPr>
              <a:t>Win Rates Between Depths (Black win% / White win%)</a:t>
            </a:r>
            <a:endParaRPr lang="en-US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8B4E58-5AA7-7820-5BB4-FA0D9380F845}"/>
              </a:ext>
            </a:extLst>
          </p:cNvPr>
          <p:cNvSpPr txBox="1"/>
          <p:nvPr/>
        </p:nvSpPr>
        <p:spPr>
          <a:xfrm>
            <a:off x="600528" y="4399883"/>
            <a:ext cx="79247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Depth 2 decisively beats Depth 1 (67% → </a:t>
            </a:r>
            <a:r>
              <a:rPr lang="en-US" dirty="0" err="1">
                <a:ea typeface="+mn-lt"/>
                <a:cs typeface="+mn-lt"/>
              </a:rPr>
              <a:t>100% win</a:t>
            </a:r>
            <a:r>
              <a:rPr lang="en-US" dirty="0">
                <a:ea typeface="+mn-lt"/>
                <a:cs typeface="+mn-lt"/>
              </a:rPr>
              <a:t> rate)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Depth 3 beats Depth 2 in most matchups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Horizon Effect</a:t>
            </a:r>
            <a:r>
              <a:rPr lang="en-US">
                <a:ea typeface="+mn-lt"/>
                <a:cs typeface="+mn-lt"/>
              </a:rPr>
              <a:t>: Although White searched deeper, it sometimes missed threats just beyond its depth limit. Black d=1 exploited short-term tactical opportunities and won more often.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96BC5AA9-13F2-1326-EA6E-6B4CC85AC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91" y="2368983"/>
            <a:ext cx="4523509" cy="171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482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4C68A-9F7E-F593-14B5-2BCB72A7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B0A977-2750-331C-0A3E-C847EE2DF98C}"/>
              </a:ext>
            </a:extLst>
          </p:cNvPr>
          <p:cNvSpPr/>
          <p:nvPr/>
        </p:nvSpPr>
        <p:spPr>
          <a:xfrm>
            <a:off x="419595" y="397824"/>
            <a:ext cx="11202389" cy="12846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 for your listening!</a:t>
            </a:r>
          </a:p>
          <a:p>
            <a:pPr marL="0" indent="0">
              <a:buNone/>
            </a:pPr>
            <a:r>
              <a:rPr lang="en-US" sz="4000" b="1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References:</a:t>
            </a:r>
            <a:endParaRPr lang="en-US" sz="4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DECE18-7DBF-FE7C-4D46-B7ED6B99DD3F}"/>
              </a:ext>
            </a:extLst>
          </p:cNvPr>
          <p:cNvSpPr/>
          <p:nvPr/>
        </p:nvSpPr>
        <p:spPr>
          <a:xfrm>
            <a:off x="609600" y="1828800"/>
            <a:ext cx="10972800" cy="4631376"/>
          </a:xfrm>
          <a:prstGeom prst="rect">
            <a:avLst/>
          </a:prstGeom>
          <a:solidFill>
            <a:srgbClr val="F9EBEA"/>
          </a:solidFill>
          <a:ln w="6350">
            <a:solidFill>
              <a:srgbClr val="E5E8E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3725EB-60F3-4E17-DF03-B4195ABA470A}"/>
              </a:ext>
            </a:extLst>
          </p:cNvPr>
          <p:cNvSpPr/>
          <p:nvPr/>
        </p:nvSpPr>
        <p:spPr>
          <a:xfrm>
            <a:off x="1219200" y="1926336"/>
            <a:ext cx="9753600" cy="410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https://rexwordpuzzle.blogspot.com/2023/08/japanese-board-game-also-called-five-in.html</a:t>
            </a:r>
            <a:endParaRPr lang="en-US" sz="1467">
              <a:solidFill>
                <a:srgbClr val="7F8C8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67">
              <a:solidFill>
                <a:srgbClr val="7F8C8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67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https://en.wikipedia.org/wiki/Alpha%E2%80%93beta_pruning</a:t>
            </a:r>
            <a:endParaRPr lang="en-US" sz="1467">
              <a:solidFill>
                <a:srgbClr val="7F8C8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67">
              <a:solidFill>
                <a:srgbClr val="7F8C8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67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https://sortingsearching.com/2020/05/18/gomoku.html</a:t>
            </a:r>
            <a:endParaRPr lang="en-US" sz="1467">
              <a:solidFill>
                <a:srgbClr val="7F8C8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67">
              <a:solidFill>
                <a:srgbClr val="7F8C8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67">
              <a:solidFill>
                <a:srgbClr val="7F8C8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67">
              <a:solidFill>
                <a:srgbClr val="7F8C8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67">
              <a:solidFill>
                <a:srgbClr val="7F8C8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67"/>
          </a:p>
        </p:txBody>
      </p:sp>
      <p:pic>
        <p:nvPicPr>
          <p:cNvPr id="19" name="Picture 18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511582A0-5B48-A516-5D2F-5FE7F2D0EF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3040" y="118184"/>
            <a:ext cx="2858581" cy="56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32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1205</Words>
  <Application>Microsoft Office PowerPoint</Application>
  <PresentationFormat>Widescreen</PresentationFormat>
  <Paragraphs>139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Arial,Sans-Serif</vt:lpstr>
      <vt:lpstr>Wingdings,Sans-Serif</vt:lpstr>
      <vt:lpstr>等线</vt:lpstr>
      <vt:lpstr>Aptos</vt:lpstr>
      <vt:lpstr>Aptos Display</vt:lpstr>
      <vt:lpstr>Arial</vt:lpstr>
      <vt:lpstr>Calibri</vt:lpstr>
      <vt:lpstr>Consolas</vt:lpstr>
      <vt:lpstr>Courier New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yaru gao</cp:lastModifiedBy>
  <cp:revision>112</cp:revision>
  <dcterms:created xsi:type="dcterms:W3CDTF">2026-04-29T22:38:38Z</dcterms:created>
  <dcterms:modified xsi:type="dcterms:W3CDTF">2026-04-30T16:57:04Z</dcterms:modified>
</cp:coreProperties>
</file>